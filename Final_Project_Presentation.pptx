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14600"/>
            <a:ext cx="164592" cy="1920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0D0D0"/>
                </a:solidFill>
              </a:rPr>
              <a:t>NLP —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RAG System  &amp;  SetFit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A623"/>
                </a:solidFill>
              </a:rPr>
              <a:t>Elden Ring Nightreign Wiki  ·  Few-Shot Text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0D0D0"/>
                </a:solidFill>
              </a:rPr>
              <a:t>Jesse  ·  30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Plan of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400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RAG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D0"/>
                </a:solidFill>
              </a:rPr>
              <a:t>Web scraping · ChromaDB · Groq/Llama3 · Gradio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6400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26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SetFit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D0"/>
                </a:solidFill>
              </a:rPr>
              <a:t>Few-shot classification · Fake news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6400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Results &amp;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D0"/>
                </a:solidFill>
              </a:rPr>
              <a:t>Metrics · 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RAG System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What is RAG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D0"/>
                </a:solidFill>
              </a:rPr>
              <a:t>Retrieval-Augmented Generation combines a vector search engine with a generative LLM. Instead of relying solely on the model's memory, relevant passages are retrieved from a knowledge base and injected into the prompt — giving precise, source-grounded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Our data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D0"/>
                </a:solidFill>
              </a:rPr>
              <a:t>Elden Ring Nightreign official wiki (Fextralife)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2560320" cy="1645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256032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3308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 Scrape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262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Playwright + BeautifulSoup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4114800"/>
            <a:ext cx="2560320" cy="1645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4114800"/>
            <a:ext cx="256032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13308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🗄️ 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5262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ChromaDB + Embeddings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114800"/>
            <a:ext cx="2560320" cy="1645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114800"/>
            <a:ext cx="256032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13308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🤖  Generate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5262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Groq API · Llama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114800"/>
            <a:ext cx="2560320" cy="1645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4114800"/>
            <a:ext cx="256032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413308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💬  Interface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5262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Gradio web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Step 1 — Web Scraping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● Playwright  — headless Chromium, renders JavaScript</a:t>
            </a:r>
          </a:p>
          <a:p>
            <a:r>
              <a:rPr sz="1500">
                <a:solidFill>
                  <a:srgbClr val="FFFFFF"/>
                </a:solidFill>
              </a:rPr>
              <a:t>● BeautifulSoup  — HTML parsing &amp; content extraction</a:t>
            </a:r>
          </a:p>
          <a:p>
            <a:r>
              <a:rPr sz="1500">
                <a:solidFill>
                  <a:srgbClr val="FFFFFF"/>
                </a:solidFill>
              </a:rPr>
              <a:t>● Custom link crawler  — discovers all internal wiki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2651760" cy="10972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4F37"/>
                </a:solidFill>
              </a:rPr>
              <a:t>2 494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D0"/>
                </a:solidFill>
              </a:rPr>
              <a:t>pages crawled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645920"/>
            <a:ext cx="2651760" cy="10972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916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4F37"/>
                </a:solidFill>
              </a:rPr>
              <a:t>8 556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D0"/>
                </a:solidFill>
              </a:rPr>
              <a:t>tables extracted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017520"/>
            <a:ext cx="2651760" cy="10972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063239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4F37"/>
                </a:solidFill>
              </a:rPr>
              <a:t>28 824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657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D0"/>
                </a:solidFill>
              </a:rPr>
              <a:t>text chunks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3017520"/>
            <a:ext cx="2651760" cy="10972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063239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4F37"/>
                </a:solidFill>
              </a:rPr>
              <a:t>31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657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D0"/>
                </a:solidFill>
              </a:rPr>
              <a:t>raw text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A623"/>
                </a:solidFill>
              </a:rPr>
              <a:t>Key feature : tables converted to structured text  →  stats &amp; game data preserved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247120" cy="14173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Code snippet — scraper_v2.py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</a:rPr>
              <a:t>page.goto(url, wait_until="domcontentloaded")
page.wait_for_selector("#wiki-content-block")
html = page.content()  # fully rendered 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Step 2 — Embedding &amp; Indexing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468880" cy="1463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468880" cy="3657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Load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2 494 pages
28 824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737360"/>
            <a:ext cx="2468880" cy="1463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737360"/>
            <a:ext cx="2468880" cy="3657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556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Embed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488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all-MiniLM-L6-v2
384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737360"/>
            <a:ext cx="2468880" cy="1463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737360"/>
            <a:ext cx="2468880" cy="3657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556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488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ChromaDB
cosine 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737360"/>
            <a:ext cx="2468880" cy="1463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737360"/>
            <a:ext cx="2468880" cy="3657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7556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1488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Top-K = 4
semantic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Embedding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0D0"/>
                </a:solidFill>
              </a:rPr>
              <a:t>sentence-transformers/all-MiniLM-L6-v2
Fast, lightweight — 384-dim vectors
Available on Hugging Face 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ChromaDB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0D0"/>
                </a:solidFill>
              </a:rPr>
              <a:t>Local persistent vector database
HNSW index for fast approximate search
Stores documents + metadata + vectors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20640"/>
            <a:ext cx="11247120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A623"/>
                </a:solidFill>
              </a:rPr>
              <a:t>Each chunk is prefixed with [Page Title &gt; Section] for better retrieval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Step 3 — Generation &amp; Gradio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LLM — Groq API / Llama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● Model : llama-3.1-8b-instant  (Groq API)</a:t>
            </a:r>
          </a:p>
          <a:p>
            <a:r>
              <a:rPr sz="1500">
                <a:solidFill>
                  <a:srgbClr val="FFFFFF"/>
                </a:solidFill>
              </a:rPr>
              <a:t>● Ultra-fast inference : &lt; 1 second response</a:t>
            </a:r>
          </a:p>
          <a:p>
            <a:r>
              <a:rPr sz="1500">
                <a:solidFill>
                  <a:srgbClr val="FFFFFF"/>
                </a:solidFill>
              </a:rPr>
              <a:t>● System prompt injects retrieved wiki context</a:t>
            </a:r>
          </a:p>
          <a:p>
            <a:r>
              <a:rPr sz="1500">
                <a:solidFill>
                  <a:srgbClr val="FFFFFF"/>
                </a:solidFill>
              </a:rPr>
              <a:t>● Answers in the user's language (FR / EN)</a:t>
            </a:r>
          </a:p>
          <a:p>
            <a:r>
              <a:rPr sz="1500">
                <a:solidFill>
                  <a:srgbClr val="FFFFFF"/>
                </a:solidFill>
              </a:rPr>
              <a:t>● Sources cited with links at end of each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88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Gradio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● Chat-style UI with conversation history</a:t>
            </a:r>
          </a:p>
          <a:p>
            <a:r>
              <a:rPr sz="1500">
                <a:solidFill>
                  <a:srgbClr val="FFFFFF"/>
                </a:solidFill>
              </a:rPr>
              <a:t>● Example questions pre-loaded</a:t>
            </a:r>
          </a:p>
          <a:p>
            <a:r>
              <a:rPr sz="1500">
                <a:solidFill>
                  <a:srgbClr val="FFFFFF"/>
                </a:solidFill>
              </a:rPr>
              <a:t>● Public URL via share=True (72h link)</a:t>
            </a:r>
          </a:p>
          <a:p>
            <a:r>
              <a:rPr sz="1500">
                <a:solidFill>
                  <a:srgbClr val="FFFFFF"/>
                </a:solidFill>
              </a:rPr>
              <a:t>● Zero deployment needed for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1247120" cy="26517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050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RAG Answer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1. User types question</a:t>
            </a:r>
          </a:p>
          <a:p>
            <a:r>
              <a:rPr sz="1400">
                <a:solidFill>
                  <a:srgbClr val="FFFFFF"/>
                </a:solidFill>
              </a:rPr>
              <a:t>→  Embed question (MiniLM)</a:t>
            </a:r>
          </a:p>
          <a:p>
            <a:r>
              <a:rPr sz="1400">
                <a:solidFill>
                  <a:srgbClr val="FFFFFF"/>
                </a:solidFill>
              </a:rPr>
              <a:t>→  ChromaDB returns Top-4 chunks</a:t>
            </a:r>
          </a:p>
          <a:p>
            <a:r>
              <a:rPr sz="1400">
                <a:solidFill>
                  <a:srgbClr val="FFFFFF"/>
                </a:solidFill>
              </a:rPr>
              <a:t>→  Build prompt: system + context + history + question</a:t>
            </a:r>
          </a:p>
          <a:p>
            <a:r>
              <a:rPr sz="1400">
                <a:solidFill>
                  <a:srgbClr val="FFFFFF"/>
                </a:solidFill>
              </a:rPr>
              <a:t>→  Groq/Llama3 generates answer</a:t>
            </a:r>
          </a:p>
          <a:p>
            <a:r>
              <a:rPr sz="1400">
                <a:solidFill>
                  <a:srgbClr val="FFFFFF"/>
                </a:solidFill>
              </a:rPr>
              <a:t>→  Display answer + source URLs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SetFit — Few-Shot Text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What is SetFit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0D0"/>
                </a:solidFill>
              </a:rPr>
              <a:t>SetFit (Sentence Transformer Fine-Tuning) trains a classifier with very few labeled examples by fine-tuning a Sentence Transformer via contrastive learning, then fitting a classification head. It reaches strong performance with as few as 8 samples.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0D0"/>
                </a:solidFill>
              </a:rPr>
              <a:t>Fake News Detection (15k articles)
Binary classification : real (1) vs fake (0)
Split : 80% train pool  /  20% fixed 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Experiments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0D0"/>
                </a:solidFill>
              </a:rPr>
              <a:t>Training samples : 8 · 10 · 20 · 50 · 100
Epochs : 1 · 5 · 10
→  15 combinations total
Model : paraphrase-mpnet-base-v2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Metrics reported on fixed test 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256032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2560320" cy="3200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731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02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per config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754880"/>
            <a:ext cx="256032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4754880"/>
            <a:ext cx="2560320" cy="3200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7731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102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per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754880"/>
            <a:ext cx="256032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754880"/>
            <a:ext cx="2560320" cy="3200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7731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02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per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4754880"/>
            <a:ext cx="256032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4754880"/>
            <a:ext cx="2560320" cy="3200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47731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102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per config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SetFit — Expected Results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Accuracy by samples × epochs  (illustrative trend)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96596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Samples \ Epochs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600200"/>
            <a:ext cx="25146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645920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 epoch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00200"/>
            <a:ext cx="25146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645920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 epochs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600200"/>
            <a:ext cx="25146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645920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 epochs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196596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305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057400"/>
            <a:ext cx="25146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13055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057400"/>
            <a:ext cx="25146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13055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057400"/>
            <a:ext cx="25146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13055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51760"/>
            <a:ext cx="196596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7249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651760"/>
            <a:ext cx="251460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72491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651760"/>
            <a:ext cx="251460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72491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~0.73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651760"/>
            <a:ext cx="251460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272491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~0.74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46120"/>
            <a:ext cx="196596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3192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3246120"/>
            <a:ext cx="25146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33192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246120"/>
            <a:ext cx="25146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33192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3246120"/>
            <a:ext cx="25146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33192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~0.82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40480"/>
            <a:ext cx="196596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91363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840480"/>
            <a:ext cx="251460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391363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~0.78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3840480"/>
            <a:ext cx="251460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391363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~0.87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3840480"/>
            <a:ext cx="251460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5240" y="391363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34840"/>
            <a:ext cx="196596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5079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4434840"/>
            <a:ext cx="25146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450799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~0.84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4434840"/>
            <a:ext cx="25146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450799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~0.91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4434840"/>
            <a:ext cx="25146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5240" y="450799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94F37"/>
                </a:solidFill>
              </a:rPr>
              <a:t>~0.92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0D0"/>
                </a:solidFill>
              </a:rPr>
              <a:t>→  More samples = better accuracy   ·   More epochs = marginal gain after 5   ·   Even 8 samples reaches ~70% with 5 epochs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</a:rPr>
              <a:t>Note : values above are illustrative trends — actual results from SetFit_exercise.ipynb will be shown in the live demo.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Full Architecture — RAG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194560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965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Fextralife
Wiki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828800"/>
            <a:ext cx="2194560" cy="10972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965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0D0D0"/>
                </a:solidFill>
              </a:rPr>
              <a:t>Playwright
+ BS4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828800"/>
            <a:ext cx="2194560" cy="10972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965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0D0D0"/>
                </a:solidFill>
              </a:rPr>
              <a:t>ChromaDB
28 824 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2194560" cy="10972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65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0D0D0"/>
                </a:solidFill>
              </a:rPr>
              <a:t>all-MiniLM
Embedder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2194560" cy="10972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4251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0D0D0"/>
                </a:solidFill>
              </a:rPr>
              <a:t>User
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4114800"/>
            <a:ext cx="2194560" cy="10972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251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0D0D0"/>
                </a:solidFill>
              </a:rPr>
              <a:t>Embed
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114800"/>
            <a:ext cx="2194560" cy="10972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4251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0D0D0"/>
                </a:solidFill>
              </a:rPr>
              <a:t>Top-4
Retrieval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114800"/>
            <a:ext cx="2194560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4251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Groq
Llama 3.1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4114800"/>
            <a:ext cx="1737360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4251960"/>
            <a:ext cx="16459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Gradio
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148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148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148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434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434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434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434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1463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0D0"/>
                </a:solidFill>
              </a:rPr>
              <a:t>INDEXING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74903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0D0"/>
                </a:solidFill>
              </a:rPr>
              <a:t>QUERY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1417320"/>
            <a:ext cx="73152" cy="1600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703320"/>
            <a:ext cx="73152" cy="1600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 &amp; What I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RAG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Chaining retrieval + generation gives grounded, accurate answers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54864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Web Scraping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Playwright handles JS-heavy sites; tables need special extraction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54864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Vector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10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Semantic embeddings outperform keyword search for NLP queries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54864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Few-Shot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251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SetFit achieves strong results with as few as 8 labeled examples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92040"/>
            <a:ext cx="54864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API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395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Groq API enables production-speed LLM inference at zero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943600"/>
            <a:ext cx="11338560" cy="6858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016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GitHub : github.com/ZarcDmC01/RAG-Nightreign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